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7" r:id="rId13"/>
    <p:sldId id="346" r:id="rId14"/>
    <p:sldId id="345"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Minhaz-04/Seasonal_Agriculture_Performance_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02433" y="3583914"/>
            <a:ext cx="6214187" cy="861497"/>
          </a:xfrm>
        </p:spPr>
        <p:txBody>
          <a:bodyPr vert="horz" lIns="91440" tIns="45720" rIns="91440" bIns="45720" rtlCol="0" anchor="t">
            <a:normAutofit/>
          </a:bodyPr>
          <a:lstStyle/>
          <a:p>
            <a:r>
              <a:rPr lang="en-US" b="0" dirty="0">
                <a:solidFill>
                  <a:schemeClr val="tx1"/>
                </a:solidFill>
              </a:rPr>
              <a:t>Student Name :- Minhaz Fathmin</a:t>
            </a:r>
            <a:endParaRPr lang="en-IN" b="0" dirty="0">
              <a:solidFill>
                <a:schemeClr val="tx1"/>
              </a:solidFill>
            </a:endParaRPr>
          </a:p>
          <a:p>
            <a:r>
              <a:rPr lang="en-US" b="0" dirty="0">
                <a:solidFill>
                  <a:schemeClr val="tx1"/>
                </a:solidFill>
              </a:rPr>
              <a:t>College Name- Ajay Binay Institute of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033180" cy="743448"/>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02433" y="4815243"/>
            <a:ext cx="6870978" cy="369332"/>
          </a:xfrm>
          <a:prstGeom prst="rect">
            <a:avLst/>
          </a:prstGeom>
          <a:noFill/>
        </p:spPr>
        <p:txBody>
          <a:bodyPr wrap="square" rtlCol="0">
            <a:spAutoFit/>
          </a:bodyPr>
          <a:lstStyle/>
          <a:p>
            <a:r>
              <a:rPr lang="en-US" b="1" dirty="0"/>
              <a:t>AICTE STU ID : STU65452f3e1f7201699032894</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2102230"/>
            <a:ext cx="6703726"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p>
          <a:p>
            <a:pPr>
              <a:lnSpc>
                <a:spcPct val="10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BCA556F0-3B8C-5190-0F82-7EC8313989E4}"/>
              </a:ext>
            </a:extLst>
          </p:cNvPr>
          <p:cNvSpPr txBox="1"/>
          <p:nvPr/>
        </p:nvSpPr>
        <p:spPr>
          <a:xfrm>
            <a:off x="467359" y="1997839"/>
            <a:ext cx="8919237" cy="2308324"/>
          </a:xfrm>
          <a:prstGeom prst="rect">
            <a:avLst/>
          </a:prstGeom>
          <a:noFill/>
        </p:spPr>
        <p:txBody>
          <a:bodyPr wrap="square" rtlCol="0">
            <a:spAutoFit/>
          </a:bodyPr>
          <a:lstStyle/>
          <a:p>
            <a:r>
              <a:rPr lang="en-IN" dirty="0"/>
              <a:t>This project </a:t>
            </a:r>
            <a:r>
              <a:rPr lang="en-IN" dirty="0" err="1"/>
              <a:t>analyzes</a:t>
            </a:r>
            <a:r>
              <a:rPr lang="en-IN" dirty="0"/>
              <a:t> a dataset of 4,000 farm records across 8 states, 8 crops and 3 seasons (Kharif, Rabi, Zaid) to understand how agricultural performance  yield, profit, resource usage and environmental conditions varies by season. The analysis involved data cleaning, exploratory analysis, statistical testing (ANOVA, chi-square) and visualization to identify significant seasonal patterns and deliver evidence based recommendations for seasonal agricultural planning. Key findings include identifying Zaid as the highest risk season across all states and showing that crop choice and water efficiency matter more than yield alone in determining farm profitability.</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algn="just">
              <a:lnSpc>
                <a:spcPct val="150000"/>
              </a:lnSpc>
            </a:pPr>
            <a:r>
              <a:rPr lang="en-US" sz="3600" dirty="0"/>
              <a:t>Farmers and agricultural cooperatives planning crop and irrigation strategy by season</a:t>
            </a:r>
          </a:p>
          <a:p>
            <a:pPr algn="just">
              <a:lnSpc>
                <a:spcPct val="150000"/>
              </a:lnSpc>
            </a:pPr>
            <a:r>
              <a:rPr lang="en-US" sz="3600" dirty="0"/>
              <a:t>State agricultural departments designing seasonal support/subsidy programs</a:t>
            </a:r>
          </a:p>
          <a:p>
            <a:pPr algn="just">
              <a:lnSpc>
                <a:spcPct val="150000"/>
              </a:lnSpc>
            </a:pPr>
            <a:r>
              <a:rPr lang="en-US" sz="3600" dirty="0"/>
              <a:t>Agricultural policy makers and planners</a:t>
            </a:r>
          </a:p>
          <a:p>
            <a:pPr algn="just">
              <a:lnSpc>
                <a:spcPct val="150000"/>
              </a:lnSpc>
            </a:pPr>
            <a:r>
              <a:rPr lang="en-US" sz="3600" dirty="0"/>
              <a:t>Agri finance and insurance providers assessing seasonal risk</a:t>
            </a:r>
          </a:p>
          <a:p>
            <a:pPr algn="just">
              <a:lnSpc>
                <a:spcPct val="150000"/>
              </a:lnSpc>
            </a:pPr>
            <a:r>
              <a:rPr lang="en-US" sz="3600" dirty="0"/>
              <a:t>Researchers and students studying agricultural data patterns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a:t>
            </a:r>
          </a:p>
          <a:p>
            <a:pPr lvl="1">
              <a:lnSpc>
                <a:spcPct val="150000"/>
              </a:lnSpc>
            </a:pPr>
            <a:r>
              <a:rPr lang="en-IN" dirty="0"/>
              <a:t>Pandas, NumPy :- data cleaning and analysis</a:t>
            </a:r>
          </a:p>
          <a:p>
            <a:pPr lvl="1">
              <a:lnSpc>
                <a:spcPct val="150000"/>
              </a:lnSpc>
            </a:pPr>
            <a:r>
              <a:rPr lang="en-IN" dirty="0"/>
              <a:t>Matplotlib, Seaborn :- visualization</a:t>
            </a:r>
          </a:p>
          <a:p>
            <a:pPr lvl="1">
              <a:lnSpc>
                <a:spcPct val="150000"/>
              </a:lnSpc>
            </a:pPr>
            <a:r>
              <a:rPr lang="en-IN" dirty="0"/>
              <a:t>SciPy (stats) :- ANOVA, chi-square, correlation testing</a:t>
            </a:r>
          </a:p>
          <a:p>
            <a:pPr lvl="1">
              <a:lnSpc>
                <a:spcPct val="150000"/>
              </a:lnSpc>
            </a:pPr>
            <a:r>
              <a:rPr lang="en-IN" dirty="0"/>
              <a:t>Google </a:t>
            </a:r>
            <a:r>
              <a:rPr lang="en-IN" dirty="0" err="1"/>
              <a:t>Colab</a:t>
            </a:r>
            <a:r>
              <a:rPr lang="en-IN" dirty="0"/>
              <a:t> Notebook :- analysis environment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63581766-285F-81F3-74D6-CD33330FE67D}"/>
              </a:ext>
            </a:extLst>
          </p:cNvPr>
          <p:cNvPicPr>
            <a:picLocks noChangeAspect="1"/>
          </p:cNvPicPr>
          <p:nvPr/>
        </p:nvPicPr>
        <p:blipFill>
          <a:blip r:embed="rId3"/>
          <a:stretch>
            <a:fillRect/>
          </a:stretch>
        </p:blipFill>
        <p:spPr>
          <a:xfrm>
            <a:off x="865740" y="1273297"/>
            <a:ext cx="7569963" cy="3690462"/>
          </a:xfrm>
          <a:prstGeom prst="rect">
            <a:avLst/>
          </a:prstGeom>
        </p:spPr>
      </p:pic>
      <p:sp>
        <p:nvSpPr>
          <p:cNvPr id="15" name="TextBox 14">
            <a:extLst>
              <a:ext uri="{FF2B5EF4-FFF2-40B4-BE49-F238E27FC236}">
                <a16:creationId xmlns:a16="http://schemas.microsoft.com/office/drawing/2014/main" id="{27320AF4-9C94-9599-D853-F07AE4991488}"/>
              </a:ext>
            </a:extLst>
          </p:cNvPr>
          <p:cNvSpPr txBox="1"/>
          <p:nvPr/>
        </p:nvSpPr>
        <p:spPr>
          <a:xfrm>
            <a:off x="865740" y="5117675"/>
            <a:ext cx="7936788" cy="1200329"/>
          </a:xfrm>
          <a:prstGeom prst="rect">
            <a:avLst/>
          </a:prstGeom>
          <a:noFill/>
        </p:spPr>
        <p:txBody>
          <a:bodyPr wrap="none" rtlCol="0">
            <a:spAutoFit/>
          </a:bodyPr>
          <a:lstStyle/>
          <a:p>
            <a:r>
              <a:rPr lang="en-US" dirty="0"/>
              <a:t>Yield is heavily right skewed across all seasons most farms cluster at </a:t>
            </a:r>
          </a:p>
          <a:p>
            <a:r>
              <a:rPr lang="en-US" dirty="0"/>
              <a:t>low values (median ~1.7 t/ha) while a small number of high yield farms </a:t>
            </a:r>
          </a:p>
          <a:p>
            <a:r>
              <a:rPr lang="en-US" dirty="0"/>
              <a:t>(mainly Sugarcane) reach up to 100 t/ha. Zaid has the lowest yield ceiling </a:t>
            </a:r>
          </a:p>
          <a:p>
            <a:r>
              <a:rPr lang="en-US" dirty="0"/>
              <a:t>of the three seasons.</a:t>
            </a: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 </a:t>
            </a:r>
            <a:endParaRPr lang="en-IN" dirty="0"/>
          </a:p>
        </p:txBody>
      </p:sp>
      <p:pic>
        <p:nvPicPr>
          <p:cNvPr id="9" name="Picture 8">
            <a:extLst>
              <a:ext uri="{FF2B5EF4-FFF2-40B4-BE49-F238E27FC236}">
                <a16:creationId xmlns:a16="http://schemas.microsoft.com/office/drawing/2014/main" id="{00239762-B560-CACC-C456-BE6BCA484341}"/>
              </a:ext>
            </a:extLst>
          </p:cNvPr>
          <p:cNvPicPr>
            <a:picLocks noChangeAspect="1"/>
          </p:cNvPicPr>
          <p:nvPr/>
        </p:nvPicPr>
        <p:blipFill>
          <a:blip r:embed="rId3"/>
          <a:stretch>
            <a:fillRect/>
          </a:stretch>
        </p:blipFill>
        <p:spPr>
          <a:xfrm>
            <a:off x="904648" y="1252372"/>
            <a:ext cx="6882091" cy="3664180"/>
          </a:xfrm>
          <a:prstGeom prst="rect">
            <a:avLst/>
          </a:prstGeom>
        </p:spPr>
      </p:pic>
      <p:sp>
        <p:nvSpPr>
          <p:cNvPr id="11" name="TextBox 10">
            <a:extLst>
              <a:ext uri="{FF2B5EF4-FFF2-40B4-BE49-F238E27FC236}">
                <a16:creationId xmlns:a16="http://schemas.microsoft.com/office/drawing/2014/main" id="{71186FBF-466A-89B0-09FF-BFFBFA09FAB9}"/>
              </a:ext>
            </a:extLst>
          </p:cNvPr>
          <p:cNvSpPr txBox="1"/>
          <p:nvPr/>
        </p:nvSpPr>
        <p:spPr>
          <a:xfrm>
            <a:off x="1035698" y="5219892"/>
            <a:ext cx="7579319" cy="1200329"/>
          </a:xfrm>
          <a:prstGeom prst="rect">
            <a:avLst/>
          </a:prstGeom>
          <a:noFill/>
        </p:spPr>
        <p:txBody>
          <a:bodyPr wrap="none" rtlCol="0">
            <a:spAutoFit/>
          </a:bodyPr>
          <a:lstStyle/>
          <a:p>
            <a:r>
              <a:rPr lang="en-US" dirty="0"/>
              <a:t>Kharif is the only season with a median profit clearly above the </a:t>
            </a:r>
          </a:p>
          <a:p>
            <a:r>
              <a:rPr lang="en-US" dirty="0"/>
              <a:t>Break even line Rabi hovers near breakeven while Zaid's typical farm </a:t>
            </a:r>
          </a:p>
          <a:p>
            <a:r>
              <a:rPr lang="en-US" dirty="0"/>
              <a:t>runs a loss consistent with Zaid having the highest share of </a:t>
            </a:r>
          </a:p>
          <a:p>
            <a:r>
              <a:rPr lang="en-US" dirty="0"/>
              <a:t>Loss making farms (64.5%).</a:t>
            </a: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F9AA6873-2681-0AFD-00D3-04A24BB7A875}"/>
              </a:ext>
            </a:extLst>
          </p:cNvPr>
          <p:cNvPicPr>
            <a:picLocks noChangeAspect="1"/>
          </p:cNvPicPr>
          <p:nvPr/>
        </p:nvPicPr>
        <p:blipFill>
          <a:blip r:embed="rId3"/>
          <a:stretch>
            <a:fillRect/>
          </a:stretch>
        </p:blipFill>
        <p:spPr>
          <a:xfrm>
            <a:off x="463938" y="1201586"/>
            <a:ext cx="8642739" cy="3028722"/>
          </a:xfrm>
          <a:prstGeom prst="rect">
            <a:avLst/>
          </a:prstGeom>
        </p:spPr>
      </p:pic>
      <p:sp>
        <p:nvSpPr>
          <p:cNvPr id="12" name="TextBox 11">
            <a:extLst>
              <a:ext uri="{FF2B5EF4-FFF2-40B4-BE49-F238E27FC236}">
                <a16:creationId xmlns:a16="http://schemas.microsoft.com/office/drawing/2014/main" id="{10C92B44-5532-0806-0246-4FD89C46C9FF}"/>
              </a:ext>
            </a:extLst>
          </p:cNvPr>
          <p:cNvSpPr txBox="1"/>
          <p:nvPr/>
        </p:nvSpPr>
        <p:spPr>
          <a:xfrm>
            <a:off x="661176" y="4674637"/>
            <a:ext cx="8248261" cy="1200329"/>
          </a:xfrm>
          <a:prstGeom prst="rect">
            <a:avLst/>
          </a:prstGeom>
          <a:noFill/>
        </p:spPr>
        <p:txBody>
          <a:bodyPr wrap="square" rtlCol="0">
            <a:spAutoFit/>
          </a:bodyPr>
          <a:lstStyle/>
          <a:p>
            <a:r>
              <a:rPr lang="en-US" dirty="0"/>
              <a:t>Rainfall declines steadily from Kharif (852 mm) to Rabi (436 mm) to Zaid </a:t>
            </a:r>
          </a:p>
          <a:p>
            <a:r>
              <a:rPr lang="en-US" dirty="0"/>
              <a:t>(299 mm) while temperature follows the opposite trend dipping in Rabi </a:t>
            </a:r>
          </a:p>
          <a:p>
            <a:r>
              <a:rPr lang="en-US" dirty="0"/>
              <a:t>(23.5°C) before peaking in Zaid (31°C). This confirms Zaid's identity as </a:t>
            </a:r>
          </a:p>
          <a:p>
            <a:r>
              <a:rPr lang="en-US" dirty="0"/>
              <a:t>the hot, dry summer season.</a:t>
            </a: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F7C93-E4D1-92D0-15A5-45F4B4AC084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08AA7E-0733-1245-64D8-66294E45E4B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A01732D-1A9D-0F41-14C6-AECF4ECFA41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8818AB2-46B6-37A2-C85F-57498C98333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CE199D6-F3A2-216B-9259-761D5D7BE4F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3DC6F4E-1E9A-5654-02A3-99F9A963BA94}"/>
              </a:ext>
            </a:extLst>
          </p:cNvPr>
          <p:cNvPicPr>
            <a:picLocks noChangeAspect="1"/>
          </p:cNvPicPr>
          <p:nvPr/>
        </p:nvPicPr>
        <p:blipFill>
          <a:blip r:embed="rId3"/>
          <a:stretch>
            <a:fillRect/>
          </a:stretch>
        </p:blipFill>
        <p:spPr>
          <a:xfrm>
            <a:off x="952553" y="1108280"/>
            <a:ext cx="6960636" cy="3714966"/>
          </a:xfrm>
          <a:prstGeom prst="rect">
            <a:avLst/>
          </a:prstGeom>
        </p:spPr>
      </p:pic>
      <p:sp>
        <p:nvSpPr>
          <p:cNvPr id="6" name="TextBox 5">
            <a:extLst>
              <a:ext uri="{FF2B5EF4-FFF2-40B4-BE49-F238E27FC236}">
                <a16:creationId xmlns:a16="http://schemas.microsoft.com/office/drawing/2014/main" id="{5A3F7934-3754-AFC5-4CE3-15FD0F1EC8A0}"/>
              </a:ext>
            </a:extLst>
          </p:cNvPr>
          <p:cNvSpPr txBox="1"/>
          <p:nvPr/>
        </p:nvSpPr>
        <p:spPr>
          <a:xfrm>
            <a:off x="774441" y="5063815"/>
            <a:ext cx="7750007" cy="1200329"/>
          </a:xfrm>
          <a:prstGeom prst="rect">
            <a:avLst/>
          </a:prstGeom>
          <a:noFill/>
        </p:spPr>
        <p:txBody>
          <a:bodyPr wrap="none" rtlCol="0">
            <a:spAutoFit/>
          </a:bodyPr>
          <a:lstStyle/>
          <a:p>
            <a:r>
              <a:rPr lang="en-US" dirty="0"/>
              <a:t>Yield and Profit are moderately correlated (0.49). Disease or Pest Risk is </a:t>
            </a:r>
          </a:p>
          <a:p>
            <a:r>
              <a:rPr lang="en-US" dirty="0"/>
              <a:t>strongly linked to Rainfall (0.62) and Humidity (0.55) and negatively </a:t>
            </a:r>
          </a:p>
          <a:p>
            <a:r>
              <a:rPr lang="en-US" dirty="0"/>
              <a:t>linked to Pesticide use (-0.47). Fertilizer shows almost no correlation </a:t>
            </a:r>
          </a:p>
          <a:p>
            <a:r>
              <a:rPr lang="en-US" dirty="0"/>
              <a:t>with Yield or Profit input quantity alone doesn't explain performance.</a:t>
            </a:r>
            <a:endParaRPr lang="en-IN" dirty="0"/>
          </a:p>
        </p:txBody>
      </p:sp>
    </p:spTree>
    <p:extLst>
      <p:ext uri="{BB962C8B-B14F-4D97-AF65-F5344CB8AC3E}">
        <p14:creationId xmlns:p14="http://schemas.microsoft.com/office/powerpoint/2010/main" val="3901471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C7525EB8-0554-80E2-C8A1-16E1147C49B8}"/>
              </a:ext>
            </a:extLst>
          </p:cNvPr>
          <p:cNvPicPr>
            <a:picLocks noChangeAspect="1"/>
          </p:cNvPicPr>
          <p:nvPr/>
        </p:nvPicPr>
        <p:blipFill>
          <a:blip r:embed="rId3"/>
          <a:stretch>
            <a:fillRect/>
          </a:stretch>
        </p:blipFill>
        <p:spPr>
          <a:xfrm>
            <a:off x="1461077" y="1275371"/>
            <a:ext cx="5424916" cy="3307987"/>
          </a:xfrm>
          <a:prstGeom prst="rect">
            <a:avLst/>
          </a:prstGeom>
        </p:spPr>
      </p:pic>
      <p:sp>
        <p:nvSpPr>
          <p:cNvPr id="3" name="TextBox 2">
            <a:extLst>
              <a:ext uri="{FF2B5EF4-FFF2-40B4-BE49-F238E27FC236}">
                <a16:creationId xmlns:a16="http://schemas.microsoft.com/office/drawing/2014/main" id="{6D2121F0-B091-DE7F-2C61-0FE02E4EF826}"/>
              </a:ext>
            </a:extLst>
          </p:cNvPr>
          <p:cNvSpPr txBox="1"/>
          <p:nvPr/>
        </p:nvSpPr>
        <p:spPr>
          <a:xfrm>
            <a:off x="1203649" y="4808727"/>
            <a:ext cx="6906058" cy="923330"/>
          </a:xfrm>
          <a:prstGeom prst="rect">
            <a:avLst/>
          </a:prstGeom>
          <a:noFill/>
        </p:spPr>
        <p:txBody>
          <a:bodyPr wrap="none" rtlCol="0">
            <a:spAutoFit/>
          </a:bodyPr>
          <a:lstStyle/>
          <a:p>
            <a:r>
              <a:rPr lang="en-US" dirty="0"/>
              <a:t>The share of loss-making farms rises sharply by season 42.2% in </a:t>
            </a:r>
          </a:p>
          <a:p>
            <a:r>
              <a:rPr lang="en-US" dirty="0"/>
              <a:t>Kharif, 51.1% in Rabi and 64.5% in Zaid making Zaid the clearest </a:t>
            </a:r>
          </a:p>
          <a:p>
            <a:r>
              <a:rPr lang="en-US" dirty="0"/>
              <a:t>priority for financial risk intervention.</a:t>
            </a:r>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3333DE78-8066-A68F-9801-D3EA6D7C2408}"/>
              </a:ext>
            </a:extLst>
          </p:cNvPr>
          <p:cNvPicPr>
            <a:picLocks noChangeAspect="1"/>
          </p:cNvPicPr>
          <p:nvPr/>
        </p:nvPicPr>
        <p:blipFill>
          <a:blip r:embed="rId3"/>
          <a:stretch>
            <a:fillRect/>
          </a:stretch>
        </p:blipFill>
        <p:spPr>
          <a:xfrm>
            <a:off x="1425946" y="1201585"/>
            <a:ext cx="6840976" cy="3818283"/>
          </a:xfrm>
          <a:prstGeom prst="rect">
            <a:avLst/>
          </a:prstGeom>
        </p:spPr>
      </p:pic>
      <p:sp>
        <p:nvSpPr>
          <p:cNvPr id="3" name="TextBox 2">
            <a:extLst>
              <a:ext uri="{FF2B5EF4-FFF2-40B4-BE49-F238E27FC236}">
                <a16:creationId xmlns:a16="http://schemas.microsoft.com/office/drawing/2014/main" id="{C9D34736-CD7A-ACE5-5AD4-27BF15F2B1FC}"/>
              </a:ext>
            </a:extLst>
          </p:cNvPr>
          <p:cNvSpPr txBox="1"/>
          <p:nvPr/>
        </p:nvSpPr>
        <p:spPr>
          <a:xfrm>
            <a:off x="811515" y="5145729"/>
            <a:ext cx="8069838" cy="1200329"/>
          </a:xfrm>
          <a:prstGeom prst="rect">
            <a:avLst/>
          </a:prstGeom>
          <a:noFill/>
        </p:spPr>
        <p:txBody>
          <a:bodyPr wrap="none" rtlCol="0">
            <a:spAutoFit/>
          </a:bodyPr>
          <a:lstStyle/>
          <a:p>
            <a:r>
              <a:rPr lang="en-US" dirty="0"/>
              <a:t>Yield-by-season patterns aren't uniform across states most follow the </a:t>
            </a:r>
          </a:p>
          <a:p>
            <a:r>
              <a:rPr lang="en-US" dirty="0"/>
              <a:t>Kharif dominant trend but Punjab peaks in Rabi (8.61 t/ha) and Karnataka </a:t>
            </a:r>
          </a:p>
          <a:p>
            <a:r>
              <a:rPr lang="en-US" dirty="0"/>
              <a:t>peaks in Zaid (6.62 t/ha) showing some states need season specific </a:t>
            </a:r>
          </a:p>
          <a:p>
            <a:r>
              <a:rPr lang="en-US" dirty="0"/>
              <a:t>planning rather than a one size fits all approach.</a:t>
            </a:r>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CACCC7B-8E4D-BE17-D005-4613FEDD4CBC}"/>
              </a:ext>
            </a:extLst>
          </p:cNvPr>
          <p:cNvSpPr txBox="1"/>
          <p:nvPr/>
        </p:nvSpPr>
        <p:spPr>
          <a:xfrm>
            <a:off x="494522" y="2054230"/>
            <a:ext cx="8098972" cy="2308324"/>
          </a:xfrm>
          <a:prstGeom prst="rect">
            <a:avLst/>
          </a:prstGeom>
          <a:noFill/>
        </p:spPr>
        <p:txBody>
          <a:bodyPr wrap="square" rtlCol="0">
            <a:spAutoFit/>
          </a:bodyPr>
          <a:lstStyle/>
          <a:p>
            <a:pPr marL="285750" indent="-285750">
              <a:buFont typeface="Wingdings" panose="05000000000000000000" pitchFamily="2" charset="2"/>
              <a:buChar char="q"/>
            </a:pPr>
            <a:r>
              <a:rPr lang="en-US" dirty="0"/>
              <a:t> Extend analysis to include more states </a:t>
            </a:r>
            <a:r>
              <a:rPr lang="en-US" dirty="0" err="1"/>
              <a:t>orregions</a:t>
            </a:r>
            <a:r>
              <a:rPr lang="en-US" dirty="0"/>
              <a:t> for broader generalization</a:t>
            </a:r>
          </a:p>
          <a:p>
            <a:pPr marL="285750" indent="-285750">
              <a:buFont typeface="Wingdings" panose="05000000000000000000" pitchFamily="2" charset="2"/>
              <a:buChar char="q"/>
            </a:pPr>
            <a:r>
              <a:rPr lang="en-US" dirty="0"/>
              <a:t> Incorporate market price trends and weather forecasting for predictive planning</a:t>
            </a:r>
          </a:p>
          <a:p>
            <a:pPr marL="285750" indent="-285750">
              <a:buFont typeface="Wingdings" panose="05000000000000000000" pitchFamily="2" charset="2"/>
              <a:buChar char="q"/>
            </a:pPr>
            <a:r>
              <a:rPr lang="en-US" dirty="0"/>
              <a:t>Apply outlier robust or non parametric statistical tests given the skew </a:t>
            </a:r>
          </a:p>
          <a:p>
            <a:r>
              <a:rPr lang="en-US" dirty="0"/>
              <a:t>  in yield or profit data </a:t>
            </a:r>
          </a:p>
          <a:p>
            <a:pPr marL="285750" indent="-285750">
              <a:buFont typeface="Wingdings" panose="05000000000000000000" pitchFamily="2" charset="2"/>
              <a:buChar char="q"/>
            </a:pPr>
            <a:r>
              <a:rPr lang="en-US" dirty="0"/>
              <a:t>Build a seasonal planning dashboard for real time decision support</a:t>
            </a:r>
          </a:p>
          <a:p>
            <a:pPr marL="285750" indent="-285750">
              <a:buFont typeface="Wingdings" panose="05000000000000000000" pitchFamily="2" charset="2"/>
              <a:buChar char="q"/>
            </a:pPr>
            <a:r>
              <a:rPr lang="en-US" dirty="0"/>
              <a:t>Study causal factors (not just correlation) behind Zaid's consistent losses</a:t>
            </a: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hlinkClick r:id="rId3"/>
            <a:extLst>
              <a:ext uri="{FF2B5EF4-FFF2-40B4-BE49-F238E27FC236}">
                <a16:creationId xmlns:a16="http://schemas.microsoft.com/office/drawing/2014/main" id="{16046A86-F7F2-BBA7-7E8D-85A87EC53B68}"/>
              </a:ext>
            </a:extLst>
          </p:cNvPr>
          <p:cNvSpPr txBox="1"/>
          <p:nvPr/>
        </p:nvSpPr>
        <p:spPr>
          <a:xfrm>
            <a:off x="559837" y="2537926"/>
            <a:ext cx="8392426" cy="369332"/>
          </a:xfrm>
          <a:prstGeom prst="rect">
            <a:avLst/>
          </a:prstGeom>
          <a:noFill/>
        </p:spPr>
        <p:txBody>
          <a:bodyPr wrap="none" rtlCol="0">
            <a:spAutoFit/>
          </a:bodyPr>
          <a:lstStyle/>
          <a:p>
            <a:r>
              <a:rPr lang="en-IN" dirty="0"/>
              <a:t>https://github.com/Minhaz-04/Seasonal_Agriculture_Performance_Analysis.git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1C48AE2-05D1-C855-900A-6427212463A8}"/>
              </a:ext>
            </a:extLst>
          </p:cNvPr>
          <p:cNvPicPr>
            <a:picLocks noChangeAspect="1"/>
          </p:cNvPicPr>
          <p:nvPr/>
        </p:nvPicPr>
        <p:blipFill>
          <a:blip r:embed="rId3"/>
          <a:stretch>
            <a:fillRect/>
          </a:stretch>
        </p:blipFill>
        <p:spPr>
          <a:xfrm>
            <a:off x="675957" y="1711262"/>
            <a:ext cx="7928679" cy="476065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1394</TotalTime>
  <Words>694</Words>
  <Application>Microsoft Office PowerPoint</Application>
  <PresentationFormat>Widescreen</PresentationFormat>
  <Paragraphs>64</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MINHAZ FATHMIN</cp:lastModifiedBy>
  <cp:revision>99</cp:revision>
  <dcterms:created xsi:type="dcterms:W3CDTF">2021-07-11T13:13:15Z</dcterms:created>
  <dcterms:modified xsi:type="dcterms:W3CDTF">2026-09-19T19:48:59Z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